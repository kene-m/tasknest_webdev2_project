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  <p:sldId id="259" r:id="rId4"/>
    <p:sldId id="260" r:id="rId5"/>
    <p:sldId id="261" r:id="rId6"/>
    <p:sldId id="268" r:id="rId7"/>
    <p:sldId id="265" r:id="rId8"/>
    <p:sldId id="266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59354-5173-6AC8-A4F6-EB29A96E3045}" v="9" dt="2026-05-09T00:48:47.818"/>
    <p1510:client id="{11E16FC8-A77B-381D-9B86-DF7E47581020}" v="174" dt="2026-05-08T20:07:02.701"/>
    <p1510:client id="{1ED28C5C-837C-4A3B-34C8-56C6F92E156A}" v="3" dt="2026-05-08T21:14:24.438"/>
    <p1510:client id="{2716A782-CB27-D9FA-53CC-E7A6861A40DC}" v="7" dt="2026-05-07T21:42:38.606"/>
    <p1510:client id="{56DB0F74-A7FE-88BD-BF05-6F87E36945D3}" v="29" dt="2026-05-08T23:39:57.624"/>
    <p1510:client id="{66378949-C34C-6123-2A64-A51D2D495E25}" v="66" dt="2026-05-09T00:17:35.826"/>
    <p1510:client id="{DE218C7B-2CF8-3E18-CABA-7EE4459B2EC7}" v="4" dt="2026-05-09T00:32:17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3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6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1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3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7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9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4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1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98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13591FE0-BA29-C3B6-AFE8-F0472F73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99" r="-2" b="4957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1" err="1">
                <a:solidFill>
                  <a:srgbClr val="FFFFFF"/>
                </a:solidFill>
              </a:rPr>
              <a:t>TaskNest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b="1" u="sng">
                <a:solidFill>
                  <a:srgbClr val="FFFFFF"/>
                </a:solidFill>
              </a:rPr>
              <a:t>By the </a:t>
            </a:r>
            <a:r>
              <a:rPr lang="en-US" b="1" i="1" u="sng">
                <a:solidFill>
                  <a:srgbClr val="FFFFFF"/>
                </a:solidFill>
                <a:latin typeface="Calisto MT"/>
                <a:ea typeface="+mn-lt"/>
                <a:cs typeface="+mn-lt"/>
              </a:rPr>
              <a:t>Powerful Foxes</a:t>
            </a:r>
            <a:r>
              <a:rPr lang="en-US" b="1" u="sng">
                <a:solidFill>
                  <a:srgbClr val="FFFFFF"/>
                </a:solidFill>
              </a:rPr>
              <a:t> Team</a:t>
            </a:r>
            <a:r>
              <a:rPr lang="en-US">
                <a:solidFill>
                  <a:srgbClr val="FFFFFF"/>
                </a:solidFill>
              </a:rPr>
              <a:t>: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Shane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LaGesse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</a:t>
            </a:r>
            <a:br>
              <a:rPr lang="en-US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Christian Fluharty,</a:t>
            </a:r>
            <a:br>
              <a:rPr lang="en-US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Kene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Maduabum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,</a:t>
            </a:r>
            <a:br>
              <a:rPr lang="en-US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Isaiah Shavers, </a:t>
            </a:r>
            <a:br>
              <a:rPr lang="en-US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Mohamed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Lehmidi</a:t>
            </a:r>
            <a:endParaRPr lang="en-US"/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756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2739-22A6-94C2-BB82-03BFA8DE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Why </a:t>
            </a:r>
            <a:r>
              <a:rPr lang="en-US" b="1" err="1">
                <a:ea typeface="+mj-lt"/>
                <a:cs typeface="+mj-lt"/>
              </a:rPr>
              <a:t>TaskNest</a:t>
            </a:r>
            <a:r>
              <a:rPr lang="en-US" b="1">
                <a:ea typeface="+mj-lt"/>
                <a:cs typeface="+mj-lt"/>
              </a:rPr>
              <a:t>?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D10C-D5E8-6CC9-9402-322B6BBDC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Keeping track of personal or team tasks across apps like texts, notes, and spreadsheets is fragmented and chaotic</a:t>
            </a:r>
          </a:p>
          <a:p>
            <a:r>
              <a:rPr lang="en-US">
                <a:ea typeface="+mn-lt"/>
                <a:cs typeface="+mn-lt"/>
              </a:rPr>
              <a:t>No single clean place to see what's overdue, in-progress, or done</a:t>
            </a:r>
          </a:p>
          <a:p>
            <a:r>
              <a:rPr lang="en-US" b="1" err="1">
                <a:ea typeface="+mn-lt"/>
                <a:cs typeface="+mn-lt"/>
              </a:rPr>
              <a:t>TaskNest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gives you one organized hub: create tasks, track their status, monitor deadlines, and get an instant dashboard summary</a:t>
            </a:r>
          </a:p>
          <a:p>
            <a:r>
              <a:rPr lang="en-US">
                <a:ea typeface="+mn-lt"/>
                <a:cs typeface="+mn-lt"/>
              </a:rPr>
              <a:t>Designed to be lightweight — no bloat, no unnecessary complexity</a:t>
            </a:r>
          </a:p>
        </p:txBody>
      </p:sp>
    </p:spTree>
    <p:extLst>
      <p:ext uri="{BB962C8B-B14F-4D97-AF65-F5344CB8AC3E}">
        <p14:creationId xmlns:p14="http://schemas.microsoft.com/office/powerpoint/2010/main" val="422645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8C89-5686-65CC-603C-0D5AA6F3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App Features Overview</a:t>
            </a:r>
            <a:endParaRPr lang="en-US"/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4A6C-3AE3-3F55-DB8C-C9DEDEE9F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Task Management Dashboard</a:t>
            </a:r>
            <a:r>
              <a:rPr lang="en-US">
                <a:ea typeface="+mn-lt"/>
                <a:cs typeface="+mn-lt"/>
              </a:rPr>
              <a:t> — at-a-glance summary of total, completed, in-progress, to-do, and overdue task counts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Full CRUD on Tasks</a:t>
            </a:r>
            <a:r>
              <a:rPr lang="en-US">
                <a:ea typeface="+mn-lt"/>
                <a:cs typeface="+mn-lt"/>
              </a:rPr>
              <a:t> — create, view, edit, and delete tasks with title, description, status, and due date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Filter by Status</a:t>
            </a:r>
            <a:r>
              <a:rPr lang="en-US">
                <a:ea typeface="+mn-lt"/>
                <a:cs typeface="+mn-lt"/>
              </a:rPr>
              <a:t> — instantly filter the task list to show only To Do, In Progress, or Done tasks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Task Detail View</a:t>
            </a:r>
            <a:r>
              <a:rPr lang="en-US">
                <a:ea typeface="+mn-lt"/>
                <a:cs typeface="+mn-lt"/>
              </a:rPr>
              <a:t> — dedicated detail page for each task with edit and delete actions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Category Tagging</a:t>
            </a:r>
            <a:r>
              <a:rPr lang="en-US">
                <a:ea typeface="+mn-lt"/>
                <a:cs typeface="+mn-lt"/>
              </a:rPr>
              <a:t> — tasks can be assigned to categories (Work, Personal, Urgent) stored in a second MongoDB collection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3A2F-DADC-4926-5793-4C34CD48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Architecture Overview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9F75D-0FF0-5D06-3841-12DB200BF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M</a:t>
            </a:r>
            <a:r>
              <a:rPr lang="en-US">
                <a:ea typeface="+mn-lt"/>
                <a:cs typeface="+mn-lt"/>
              </a:rPr>
              <a:t> — MongoDB + Mongoose: two schema models (</a:t>
            </a:r>
            <a:r>
              <a:rPr lang="en-US" i="1">
                <a:ea typeface="+mn-lt"/>
                <a:cs typeface="+mn-lt"/>
              </a:rPr>
              <a:t>Task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Category</a:t>
            </a:r>
            <a:r>
              <a:rPr lang="en-US">
                <a:ea typeface="+mn-lt"/>
                <a:cs typeface="+mn-lt"/>
              </a:rPr>
              <a:t>), CRUD via Mongoose methods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</a:t>
            </a:r>
            <a:r>
              <a:rPr lang="en-US">
                <a:ea typeface="+mn-lt"/>
                <a:cs typeface="+mn-lt"/>
              </a:rPr>
              <a:t> — Express + Node.js: REST-style HTTP server (</a:t>
            </a:r>
            <a:r>
              <a:rPr lang="en-US" i="1">
                <a:latin typeface="Consolas"/>
              </a:rPr>
              <a:t>server.js</a:t>
            </a:r>
            <a:r>
              <a:rPr lang="en-US">
                <a:ea typeface="+mn-lt"/>
                <a:cs typeface="+mn-lt"/>
              </a:rPr>
              <a:t>) with port normalization, MVC folder structure (models / controllers / routes)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A</a:t>
            </a:r>
            <a:r>
              <a:rPr lang="en-US">
                <a:ea typeface="+mn-lt"/>
                <a:cs typeface="+mn-lt"/>
              </a:rPr>
              <a:t> — Angular 21: component-based </a:t>
            </a:r>
            <a:r>
              <a:rPr lang="en-US" err="1">
                <a:ea typeface="+mn-lt"/>
                <a:cs typeface="+mn-lt"/>
              </a:rPr>
              <a:t>sapplication</a:t>
            </a:r>
            <a:r>
              <a:rPr lang="en-US">
                <a:ea typeface="+mn-lt"/>
                <a:cs typeface="+mn-lt"/>
              </a:rPr>
              <a:t> with routing, Angular Material UI, reactive forms, services + observables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N</a:t>
            </a:r>
            <a:r>
              <a:rPr lang="en-US">
                <a:ea typeface="+mn-lt"/>
                <a:cs typeface="+mn-lt"/>
              </a:rPr>
              <a:t> — Node.js: runtime powering both </a:t>
            </a:r>
            <a:r>
              <a:rPr lang="en-US" i="1">
                <a:latin typeface="Consolas"/>
              </a:rPr>
              <a:t>server.js</a:t>
            </a:r>
            <a:r>
              <a:rPr lang="en-US">
                <a:ea typeface="+mn-lt"/>
                <a:cs typeface="+mn-lt"/>
              </a:rPr>
              <a:t> (static serving) and the backend Express API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GraphQL</a:t>
            </a:r>
            <a:r>
              <a:rPr lang="en-US">
                <a:ea typeface="+mn-lt"/>
                <a:cs typeface="+mn-lt"/>
              </a:rPr>
              <a:t> layer (Apollo Server) sits between Angular and MongoDB for flexible querying and filtering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F0CCD-7930-D5A5-638C-25AFA46F7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5749865"/>
            <a:ext cx="81534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4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0E5C-B56D-C3E2-1606-7C2CEEE2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Backend (Express)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8A95-D7D4-6C77-DD92-10290A2C2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server.js</a:t>
            </a:r>
            <a:r>
              <a:rPr lang="en-US">
                <a:ea typeface="+mn-lt"/>
                <a:cs typeface="+mn-lt"/>
              </a:rPr>
              <a:t> sets up an express server utilizing port normalization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backend</a:t>
            </a:r>
            <a:r>
              <a:rPr lang="en-US">
                <a:latin typeface="Consolas"/>
              </a:rPr>
              <a:t>/</a:t>
            </a:r>
            <a:r>
              <a:rPr lang="en-US" err="1">
                <a:latin typeface="Consolas"/>
              </a:rPr>
              <a:t>src</a:t>
            </a:r>
            <a:r>
              <a:rPr lang="en-US">
                <a:latin typeface="Consolas"/>
              </a:rPr>
              <a:t>/</a:t>
            </a:r>
            <a:r>
              <a:rPr lang="en-US" err="1">
                <a:latin typeface="Consolas"/>
              </a:rPr>
              <a:t>index.ts</a:t>
            </a:r>
            <a:r>
              <a:rPr lang="en-US">
                <a:ea typeface="+mn-lt"/>
                <a:cs typeface="+mn-lt"/>
              </a:rPr>
              <a:t> runs the Express + Apollo Server middleware on port 4000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5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860A-867D-A5AB-BB16-1961FB07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5B9E-8A3D-59C3-B0AF-C33E1C3D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Backend (</a:t>
            </a:r>
            <a:r>
              <a:rPr lang="en-US" b="1" err="1">
                <a:ea typeface="+mj-lt"/>
                <a:cs typeface="+mj-lt"/>
              </a:rPr>
              <a:t>GraphQL</a:t>
            </a:r>
            <a:r>
              <a:rPr lang="en-US" b="1">
                <a:ea typeface="+mj-lt"/>
                <a:cs typeface="+mj-lt"/>
              </a:rPr>
              <a:t>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E246-E0B8-D3E4-560B-C711F9DD8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GraphQL</a:t>
            </a:r>
            <a:r>
              <a:rPr lang="en-US">
                <a:ea typeface="+mn-lt"/>
                <a:cs typeface="+mn-lt"/>
              </a:rPr>
              <a:t> schema (</a:t>
            </a:r>
            <a:r>
              <a:rPr lang="en-US" err="1">
                <a:latin typeface="Consolas"/>
              </a:rPr>
              <a:t>typeDefs.ts</a:t>
            </a:r>
            <a:r>
              <a:rPr lang="en-US">
                <a:ea typeface="+mn-lt"/>
                <a:cs typeface="+mn-lt"/>
              </a:rPr>
              <a:t>) defines </a:t>
            </a:r>
            <a:r>
              <a:rPr lang="en-US">
                <a:latin typeface="Consolas"/>
              </a:rPr>
              <a:t>Task</a:t>
            </a:r>
            <a:r>
              <a:rPr lang="en-US">
                <a:ea typeface="+mn-lt"/>
                <a:cs typeface="+mn-lt"/>
              </a:rPr>
              <a:t> type, queries (</a:t>
            </a:r>
            <a:r>
              <a:rPr lang="en-US">
                <a:latin typeface="Consolas"/>
              </a:rPr>
              <a:t>tasks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task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total</a:t>
            </a:r>
            <a:r>
              <a:rPr lang="en-US">
                <a:ea typeface="+mn-lt"/>
                <a:cs typeface="+mn-lt"/>
              </a:rPr>
              <a:t>) and mutations (</a:t>
            </a:r>
            <a:r>
              <a:rPr lang="en-US" err="1">
                <a:latin typeface="Consolas"/>
              </a:rPr>
              <a:t>createTask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updateTask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deleteTask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Resolvers (</a:t>
            </a:r>
            <a:r>
              <a:rPr lang="en-US" err="1">
                <a:latin typeface="Consolas"/>
              </a:rPr>
              <a:t>resolvers.ts</a:t>
            </a:r>
            <a:r>
              <a:rPr lang="en-US">
                <a:ea typeface="+mn-lt"/>
                <a:cs typeface="+mn-lt"/>
              </a:rPr>
              <a:t>) wire each operation to Mongoose model methods — </a:t>
            </a:r>
            <a:r>
              <a:rPr lang="en-US">
                <a:latin typeface="Consolas"/>
              </a:rPr>
              <a:t>find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findById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findByIdAndUpdate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findByIdAndDelete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Advanced filter system (</a:t>
            </a:r>
            <a:r>
              <a:rPr lang="en-US" err="1">
                <a:latin typeface="Consolas"/>
              </a:rPr>
              <a:t>filters.ts</a:t>
            </a:r>
            <a:r>
              <a:rPr lang="en-US">
                <a:ea typeface="+mn-lt"/>
                <a:cs typeface="+mn-lt"/>
              </a:rPr>
              <a:t>) translates </a:t>
            </a:r>
            <a:r>
              <a:rPr lang="en-US" err="1">
                <a:ea typeface="+mn-lt"/>
                <a:cs typeface="+mn-lt"/>
              </a:rPr>
              <a:t>GraphQL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where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 err="1">
                <a:latin typeface="Consolas"/>
              </a:rPr>
              <a:t>orderBy</a:t>
            </a:r>
            <a:r>
              <a:rPr lang="en-US">
                <a:ea typeface="+mn-lt"/>
                <a:cs typeface="+mn-lt"/>
              </a:rPr>
              <a:t> inputs into Mongoose queries (regex, </a:t>
            </a:r>
            <a:r>
              <a:rPr lang="en-US">
                <a:latin typeface="Consolas"/>
              </a:rPr>
              <a:t>$in</a:t>
            </a:r>
            <a:r>
              <a:rPr lang="en-US">
                <a:ea typeface="+mn-lt"/>
                <a:cs typeface="+mn-lt"/>
              </a:rPr>
              <a:t>, sort direction)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 error classes (</a:t>
            </a:r>
            <a:r>
              <a:rPr lang="en-US" err="1">
                <a:latin typeface="Consolas"/>
              </a:rPr>
              <a:t>TaskNotFoundError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InvalidIdError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InternalError</a:t>
            </a:r>
            <a:r>
              <a:rPr lang="en-US">
                <a:ea typeface="+mn-lt"/>
                <a:cs typeface="+mn-lt"/>
              </a:rPr>
              <a:t>) provide safe, predictable API error response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54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F616-7B41-63BF-AA71-8759E171B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Data Layer:  Mongoose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1B9D-BB04-7BC1-DCDB-1EDC65B0B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Task Schema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latin typeface="Consolas"/>
              </a:rPr>
              <a:t>Task.ts</a:t>
            </a:r>
            <a:r>
              <a:rPr lang="en-US">
                <a:ea typeface="+mn-lt"/>
                <a:cs typeface="+mn-lt"/>
              </a:rPr>
              <a:t>): </a:t>
            </a:r>
            <a:r>
              <a:rPr lang="en-US">
                <a:latin typeface="Consolas"/>
              </a:rPr>
              <a:t>title</a:t>
            </a:r>
            <a:r>
              <a:rPr lang="en-US">
                <a:ea typeface="+mn-lt"/>
                <a:cs typeface="+mn-lt"/>
              </a:rPr>
              <a:t> (String, required), </a:t>
            </a:r>
            <a:r>
              <a:rPr lang="en-US">
                <a:latin typeface="Consolas"/>
              </a:rPr>
              <a:t>description</a:t>
            </a:r>
            <a:r>
              <a:rPr lang="en-US">
                <a:ea typeface="+mn-lt"/>
                <a:cs typeface="+mn-lt"/>
              </a:rPr>
              <a:t> (String), </a:t>
            </a:r>
            <a:r>
              <a:rPr lang="en-US">
                <a:latin typeface="Consolas"/>
              </a:rPr>
              <a:t>status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enum</a:t>
            </a:r>
            <a:r>
              <a:rPr lang="en-US">
                <a:ea typeface="+mn-lt"/>
                <a:cs typeface="+mn-lt"/>
              </a:rPr>
              <a:t>: TODO/DONE, default: TODO), </a:t>
            </a:r>
            <a:r>
              <a:rPr lang="en-US" err="1">
                <a:latin typeface="Consolas"/>
              </a:rPr>
              <a:t>dueDate</a:t>
            </a:r>
            <a:r>
              <a:rPr lang="en-US">
                <a:ea typeface="+mn-lt"/>
                <a:cs typeface="+mn-lt"/>
              </a:rPr>
              <a:t> (String)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Category Schema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latin typeface="Consolas"/>
                <a:ea typeface="+mn-lt"/>
                <a:cs typeface="+mn-lt"/>
              </a:rPr>
              <a:t>Category.</a:t>
            </a:r>
            <a:r>
              <a:rPr lang="en-US" err="1">
                <a:latin typeface="Consolas"/>
              </a:rPr>
              <a:t>ts</a:t>
            </a:r>
            <a:r>
              <a:rPr lang="en-US">
                <a:ea typeface="+mn-lt"/>
                <a:cs typeface="+mn-lt"/>
              </a:rPr>
              <a:t>): </a:t>
            </a:r>
            <a:r>
              <a:rPr lang="en-US">
                <a:latin typeface="Consolas"/>
                <a:ea typeface="+mn-lt"/>
                <a:cs typeface="+mn-lt"/>
              </a:rPr>
              <a:t>title</a:t>
            </a:r>
            <a:r>
              <a:rPr lang="en-US">
                <a:ea typeface="+mn-lt"/>
                <a:cs typeface="+mn-lt"/>
              </a:rPr>
              <a:t> (String, required), </a:t>
            </a:r>
            <a:r>
              <a:rPr lang="en-US">
                <a:latin typeface="Consolas"/>
              </a:rPr>
              <a:t>description</a:t>
            </a:r>
            <a:r>
              <a:rPr lang="en-US">
                <a:ea typeface="+mn-lt"/>
                <a:cs typeface="+mn-lt"/>
              </a:rPr>
              <a:t> (String), </a:t>
            </a:r>
            <a:r>
              <a:rPr lang="en-US" err="1">
                <a:latin typeface="Consolas"/>
              </a:rPr>
              <a:t>isDefault</a:t>
            </a:r>
            <a:r>
              <a:rPr lang="en-US">
                <a:ea typeface="+mn-lt"/>
                <a:cs typeface="+mn-lt"/>
              </a:rPr>
              <a:t> (Boolean, default: false) — organizes tasks into labeled groups for filtering and categorization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Errors Schema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latin typeface="Consolas"/>
                <a:ea typeface="+mn-lt"/>
                <a:cs typeface="+mn-lt"/>
              </a:rPr>
              <a:t>ErrorLog.ts</a:t>
            </a:r>
            <a:r>
              <a:rPr lang="en-US">
                <a:ea typeface="+mn-lt"/>
                <a:cs typeface="+mn-lt"/>
              </a:rPr>
              <a:t>): </a:t>
            </a:r>
            <a:r>
              <a:rPr lang="en-US" err="1">
                <a:latin typeface="Consolas"/>
                <a:ea typeface="+mn-lt"/>
                <a:cs typeface="+mn-lt"/>
              </a:rPr>
              <a:t>errorId</a:t>
            </a:r>
            <a:r>
              <a:rPr lang="en-US">
                <a:ea typeface="+mn-lt"/>
                <a:cs typeface="+mn-lt"/>
              </a:rPr>
              <a:t> (UUID), </a:t>
            </a:r>
            <a:r>
              <a:rPr lang="en-US">
                <a:latin typeface="Consolas"/>
                <a:ea typeface="+mn-lt"/>
                <a:cs typeface="+mn-lt"/>
              </a:rPr>
              <a:t>timestamp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message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stack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operation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variables</a:t>
            </a:r>
            <a:r>
              <a:rPr lang="en-US">
                <a:ea typeface="+mn-lt"/>
                <a:cs typeface="+mn-lt"/>
              </a:rPr>
              <a:t> — captures every unhandled backend error automatically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All CRUD operations flow through Mongoose: </a:t>
            </a:r>
            <a:r>
              <a:rPr lang="en-US">
                <a:latin typeface="Consolas"/>
              </a:rPr>
              <a:t>.find()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.</a:t>
            </a:r>
            <a:r>
              <a:rPr lang="en-US" err="1">
                <a:latin typeface="Consolas"/>
              </a:rPr>
              <a:t>findById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.save()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.</a:t>
            </a:r>
            <a:r>
              <a:rPr lang="en-US" err="1">
                <a:latin typeface="Consolas"/>
              </a:rPr>
              <a:t>findByIdAndUpdate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.</a:t>
            </a:r>
            <a:r>
              <a:rPr lang="en-US" err="1">
                <a:latin typeface="Consolas"/>
              </a:rPr>
              <a:t>findByIdAndDelete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Seed data populates both collections for testing and demo purposes</a:t>
            </a:r>
            <a:endParaRPr lang="en-US"/>
          </a:p>
          <a:p>
            <a:r>
              <a:rPr lang="en-US" err="1">
                <a:latin typeface="Consolas"/>
              </a:rPr>
              <a:t>db.ts</a:t>
            </a:r>
            <a:r>
              <a:rPr lang="en-US">
                <a:ea typeface="+mn-lt"/>
                <a:cs typeface="+mn-lt"/>
              </a:rPr>
              <a:t> handles connection with error and disconnect event listeners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4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C8E9-AEA1-657B-BB13-2A4A68F6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Frontend: Angular Components &amp; Routing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52561-9F02-507E-7746-BE2AD7DAE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4 main routes</a:t>
            </a:r>
            <a:r>
              <a:rPr lang="en-US">
                <a:ea typeface="+mn-lt"/>
                <a:cs typeface="+mn-lt"/>
              </a:rPr>
              <a:t> handled by </a:t>
            </a:r>
            <a:r>
              <a:rPr lang="en-US" err="1">
                <a:latin typeface="Consolas"/>
              </a:rPr>
              <a:t>AppRoutingModule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>
                <a:latin typeface="Consolas"/>
              </a:rPr>
              <a:t>/</a:t>
            </a:r>
            <a:r>
              <a:rPr lang="en-US">
                <a:ea typeface="+mn-lt"/>
                <a:cs typeface="+mn-lt"/>
              </a:rPr>
              <a:t> (Dashboard), </a:t>
            </a:r>
            <a:r>
              <a:rPr lang="en-US">
                <a:latin typeface="Consolas"/>
              </a:rPr>
              <a:t>/tasks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TaskList</a:t>
            </a:r>
            <a:r>
              <a:rPr lang="en-US">
                <a:ea typeface="+mn-lt"/>
                <a:cs typeface="+mn-lt"/>
              </a:rPr>
              <a:t>), </a:t>
            </a:r>
            <a:r>
              <a:rPr lang="en-US">
                <a:latin typeface="Consolas"/>
              </a:rPr>
              <a:t>/tasks/create</a:t>
            </a:r>
            <a:r>
              <a:rPr lang="en-US">
                <a:ea typeface="+mn-lt"/>
                <a:cs typeface="+mn-lt"/>
              </a:rPr>
              <a:t> &amp; </a:t>
            </a:r>
            <a:r>
              <a:rPr lang="en-US">
                <a:latin typeface="Consolas"/>
              </a:rPr>
              <a:t>/tasks/edit/:id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TaskForm</a:t>
            </a:r>
            <a:r>
              <a:rPr lang="en-US">
                <a:ea typeface="+mn-lt"/>
                <a:cs typeface="+mn-lt"/>
              </a:rPr>
              <a:t>), </a:t>
            </a:r>
            <a:r>
              <a:rPr lang="en-US">
                <a:latin typeface="Consolas"/>
              </a:rPr>
              <a:t>/tasks/:id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TaskDetail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TaskListComponent</a:t>
            </a:r>
            <a:r>
              <a:rPr lang="en-US">
                <a:ea typeface="+mn-lt"/>
                <a:cs typeface="+mn-lt"/>
              </a:rPr>
              <a:t> — displays all tasks as Material cards, supports status filter buttons, delete action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TaskFormComponent</a:t>
            </a:r>
            <a:r>
              <a:rPr lang="en-US">
                <a:ea typeface="+mn-lt"/>
                <a:cs typeface="+mn-lt"/>
              </a:rPr>
              <a:t> — reactive form (Reactive Forms / </a:t>
            </a:r>
            <a:r>
              <a:rPr lang="en-US" err="1">
                <a:latin typeface="Consolas"/>
              </a:rPr>
              <a:t>FormGroup</a:t>
            </a:r>
            <a:r>
              <a:rPr lang="en-US">
                <a:ea typeface="+mn-lt"/>
                <a:cs typeface="+mn-lt"/>
              </a:rPr>
              <a:t>) used for both create and edit modes; </a:t>
            </a:r>
            <a:r>
              <a:rPr lang="en-US">
                <a:latin typeface="Consolas"/>
              </a:rPr>
              <a:t>title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description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status</a:t>
            </a:r>
            <a:r>
              <a:rPr lang="en-US">
                <a:ea typeface="+mn-lt"/>
                <a:cs typeface="+mn-lt"/>
              </a:rPr>
              <a:t> (mat-select), </a:t>
            </a:r>
            <a:r>
              <a:rPr lang="en-US" err="1">
                <a:latin typeface="Consolas"/>
              </a:rPr>
              <a:t>dueDate</a:t>
            </a:r>
            <a:r>
              <a:rPr lang="en-US">
                <a:ea typeface="+mn-lt"/>
                <a:cs typeface="+mn-lt"/>
              </a:rPr>
              <a:t> fields with validators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TaskDetailComponent</a:t>
            </a:r>
            <a:r>
              <a:rPr lang="en-US">
                <a:ea typeface="+mn-lt"/>
                <a:cs typeface="+mn-lt"/>
              </a:rPr>
              <a:t> — view a single task by ID with edit and delete actions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DashboardComponent</a:t>
            </a:r>
            <a:r>
              <a:rPr lang="en-US">
                <a:ea typeface="+mn-lt"/>
                <a:cs typeface="+mn-lt"/>
              </a:rPr>
              <a:t> — computes live stats (total, done, in-progress, </a:t>
            </a:r>
            <a:r>
              <a:rPr lang="en-US" err="1">
                <a:ea typeface="+mn-lt"/>
                <a:cs typeface="+mn-lt"/>
              </a:rPr>
              <a:t>todo</a:t>
            </a:r>
            <a:r>
              <a:rPr lang="en-US">
                <a:ea typeface="+mn-lt"/>
                <a:cs typeface="+mn-lt"/>
              </a:rPr>
              <a:t>, overdue) from the reactive task stream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HeaderComponent</a:t>
            </a:r>
            <a:r>
              <a:rPr lang="en-US">
                <a:ea typeface="+mn-lt"/>
                <a:cs typeface="+mn-lt"/>
              </a:rPr>
              <a:t> — persistent nav bar with </a:t>
            </a:r>
            <a:r>
              <a:rPr lang="en-US" err="1">
                <a:latin typeface="Consolas"/>
              </a:rPr>
              <a:t>routerLinkActive</a:t>
            </a:r>
            <a:r>
              <a:rPr lang="en-US">
                <a:ea typeface="+mn-lt"/>
                <a:cs typeface="+mn-lt"/>
              </a:rPr>
              <a:t> highlighting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1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C544-E16D-D9EF-07CE-EC2FF8B8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Angular Services &amp; Observables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8141-9EF9-FB1D-DA13-E926E2118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err="1">
                <a:latin typeface="Consolas"/>
              </a:rPr>
              <a:t>TaskService</a:t>
            </a:r>
            <a:r>
              <a:rPr lang="en-US">
                <a:ea typeface="+mn-lt"/>
                <a:cs typeface="+mn-lt"/>
              </a:rPr>
              <a:t> is the single source of truth — injected app-wide via </a:t>
            </a:r>
            <a:r>
              <a:rPr lang="en-US" err="1">
                <a:latin typeface="Consolas"/>
              </a:rPr>
              <a:t>providedIn</a:t>
            </a:r>
            <a:r>
              <a:rPr lang="en-US">
                <a:latin typeface="Consolas"/>
              </a:rPr>
              <a:t>: 'root'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Angular </a:t>
            </a:r>
            <a:r>
              <a:rPr lang="en-US" err="1">
                <a:latin typeface="Consolas"/>
              </a:rPr>
              <a:t>HttpClient</a:t>
            </a:r>
            <a:r>
              <a:rPr lang="en-US">
                <a:ea typeface="+mn-lt"/>
                <a:cs typeface="+mn-lt"/>
              </a:rPr>
              <a:t> to POST </a:t>
            </a:r>
            <a:r>
              <a:rPr lang="en-US" err="1">
                <a:ea typeface="+mn-lt"/>
                <a:cs typeface="+mn-lt"/>
              </a:rPr>
              <a:t>GraphQL</a:t>
            </a:r>
            <a:r>
              <a:rPr lang="en-US">
                <a:ea typeface="+mn-lt"/>
                <a:cs typeface="+mn-lt"/>
              </a:rPr>
              <a:t> queries/mutations to the Express backend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All data flows through a </a:t>
            </a:r>
            <a:r>
              <a:rPr lang="en-US">
                <a:latin typeface="Consolas"/>
              </a:rPr>
              <a:t>Subject&lt;Task[]&gt;</a:t>
            </a:r>
            <a:r>
              <a:rPr lang="en-US">
                <a:ea typeface="+mn-lt"/>
                <a:cs typeface="+mn-lt"/>
              </a:rPr>
              <a:t> — components subscribe via </a:t>
            </a:r>
            <a:r>
              <a:rPr lang="en-US" err="1">
                <a:latin typeface="Consolas"/>
              </a:rPr>
              <a:t>getTaskUpdateListener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 and react instantly to changes</a:t>
            </a:r>
            <a:endParaRPr lang="en-US"/>
          </a:p>
          <a:p>
            <a:r>
              <a:rPr lang="en-US" err="1">
                <a:latin typeface="Consolas"/>
              </a:rPr>
              <a:t>loadTasks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 re-fetches and emits the updated task list after every mutation (create, update, delete)</a:t>
            </a:r>
            <a:endParaRPr lang="en-US"/>
          </a:p>
          <a:p>
            <a:r>
              <a:rPr lang="en-US">
                <a:latin typeface="Consolas"/>
              </a:rPr>
              <a:t>TypeScript Interface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>
                <a:latin typeface="Consolas"/>
              </a:rPr>
              <a:t>Task</a:t>
            </a:r>
            <a:r>
              <a:rPr lang="en-US">
                <a:ea typeface="+mn-lt"/>
                <a:cs typeface="+mn-lt"/>
              </a:rPr>
              <a:t>) enforces strict typing across the entire data flow: service → component → template</a:t>
            </a:r>
            <a:endParaRPr lang="en-US"/>
          </a:p>
          <a:p>
            <a:r>
              <a:rPr lang="en-US" err="1">
                <a:latin typeface="Consolas"/>
              </a:rPr>
              <a:t>ChangeDetectorRef.detectChanges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 used to manually trigger Angular's change detection after async updates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3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327EE-C76A-D0EF-C6D2-FF980087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DEMO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Play">
            <a:extLst>
              <a:ext uri="{FF2B5EF4-FFF2-40B4-BE49-F238E27FC236}">
                <a16:creationId xmlns:a16="http://schemas.microsoft.com/office/drawing/2014/main" id="{E1118395-A1DD-3240-E4E9-365B1BDC9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0149" y="723901"/>
            <a:ext cx="5410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0233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TaskNest</vt:lpstr>
      <vt:lpstr>Why TaskNest?</vt:lpstr>
      <vt:lpstr>App Features Overview </vt:lpstr>
      <vt:lpstr>Architecture Overview</vt:lpstr>
      <vt:lpstr>Backend (Express)</vt:lpstr>
      <vt:lpstr>Backend (GraphQL)</vt:lpstr>
      <vt:lpstr>Data Layer:  Mongoose</vt:lpstr>
      <vt:lpstr>Frontend: Angular Components &amp; Routing</vt:lpstr>
      <vt:lpstr>Angular Services &amp; Observables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2026-05-07T21:41:34Z</dcterms:created>
  <dcterms:modified xsi:type="dcterms:W3CDTF">2026-05-09T02:29:04Z</dcterms:modified>
</cp:coreProperties>
</file>